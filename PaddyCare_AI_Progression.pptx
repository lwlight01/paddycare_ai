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ackground_17893583558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PaddyCare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060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2600" b="0">
                <a:solidFill>
                  <a:srgbClr val="22C55E"/>
                </a:solidFill>
                <a:latin typeface="Calibri"/>
              </a:defRPr>
            </a:pPr>
            <a:r>
              <a:t>AI-Powered Paddy Leaf Disease Detection System</a:t>
            </a:r>
          </a:p>
          <a:p>
            <a:pPr algn="l">
              <a:spcBef>
                <a:spcPts val="0"/>
              </a:spcBef>
              <a:spcAft>
                <a:spcPts val="2400"/>
              </a:spcAft>
              <a:defRPr sz="1600" b="0">
                <a:solidFill>
                  <a:srgbClr val="AAB8C5"/>
                </a:solidFill>
                <a:latin typeface="Calibri"/>
              </a:defRPr>
            </a:pPr>
            <a:r>
              <a:t>A comprehensive deep learning solution — from model training to on-device Android deployment.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Project Progression Report  •  September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1161288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21807"/>
            <a:ext cx="1161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5303520"/>
            <a:ext cx="1965960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5321807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EfficientNet-B5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5303520"/>
            <a:ext cx="1965960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5321807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5303520"/>
            <a:ext cx="2871216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5321807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Kotlin + Jetpack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01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1800" b="0">
                <a:solidFill>
                  <a:srgbClr val="AAB8C5"/>
                </a:solidFill>
                <a:latin typeface="Calibri"/>
              </a:defRPr>
            </a:pPr>
            <a:r>
              <a:t>Rice is the staple food for over 160 million people in Bangladesh.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0">
                <a:solidFill>
                  <a:srgbClr val="AAB8C5"/>
                </a:solidFill>
                <a:latin typeface="Calibri"/>
              </a:defRPr>
            </a:pPr>
            <a:r>
              <a:t>Bacterial Blight alone causes 20-30% crop loss annually when undetected.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0">
                <a:solidFill>
                  <a:srgbClr val="AAB8C5"/>
                </a:solidFill>
                <a:latin typeface="Calibri"/>
              </a:defRPr>
            </a:pPr>
            <a:r>
              <a:t>Farmers lack access to expert agronomists, especially in rural areas.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0">
                <a:solidFill>
                  <a:srgbClr val="AAB8C5"/>
                </a:solidFill>
                <a:latin typeface="Calibri"/>
              </a:defRPr>
            </a:pPr>
            <a:r>
              <a:t>Manual identification is subjective, slow, and often inaccurate.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572000" cy="1188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2C55E"/>
                </a:solidFill>
                <a:latin typeface="Calibri"/>
              </a:defRPr>
            </a:pPr>
            <a:r>
              <a:t>160M+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People depend on rice</a:t>
            </a:r>
            <a:br/>
            <a:r>
              <a:t>in Bangladesh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474720"/>
            <a:ext cx="4572000" cy="1188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611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2C55E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Crop loss from</a:t>
            </a:r>
            <a:br/>
            <a:r>
              <a:t>undetected disease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937760"/>
            <a:ext cx="4572000" cy="11887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5074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2C55E"/>
                </a:solidFill>
                <a:latin typeface="Calibri"/>
              </a:defRPr>
            </a:pPr>
            <a:r>
              <a:t>&lt; 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Farmers with access</a:t>
            </a:r>
            <a:br/>
            <a:r>
              <a:t>to plant pathologists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02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B8C5"/>
                </a:solidFill>
                <a:latin typeface="Calibri"/>
              </a:defRPr>
            </a:pPr>
            <a:r>
              <a:t>An end-to-end AI system: from dataset curation → deep learning training → model optimization → offline Android app.</a:t>
            </a:r>
          </a:p>
        </p:txBody>
      </p:sp>
      <p:pic>
        <p:nvPicPr>
          <p:cNvPr id="6" name="Picture 5" descr="pipeline_architecture_17893583696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10698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6126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Data Collection</a:t>
            </a:r>
            <a:br/>
            <a:r>
              <a:t>&amp;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126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Model Training</a:t>
            </a:r>
            <a:br/>
            <a:r>
              <a:t>(EfficientNet-B5)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6126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Model Conversion</a:t>
            </a:r>
            <a:br/>
            <a:r>
              <a:t>(PyTorch → TFLite)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126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Android App</a:t>
            </a:r>
            <a:br/>
            <a:r>
              <a:t>(Offline Inference)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03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Backbone: EfficientNet-B5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500" b="0">
                <a:solidFill>
                  <a:srgbClr val="AAB8C5"/>
                </a:solidFill>
                <a:latin typeface="Calibri"/>
              </a:defRPr>
            </a:pPr>
            <a:r>
              <a:t>• 30M parameters  •  456×456 input resolution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Custom Classifier Head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Dropout(0.4) → Linear(2048, 512) → SiLU</a:t>
            </a:r>
            <a:br/>
            <a:r>
              <a:t>Dropout(0.3) → Linear(512, 128) → SiLU</a:t>
            </a:r>
            <a:br/>
            <a:r>
              <a:t>Dropout(0.2) → Linear(128, NUM_CLASSES)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• SiLU (Swish) activations match EfficientNet's design language</a:t>
            </a:r>
            <a:br/>
            <a:r>
              <a:t>• 128-dim embedding layer enables Mahalanobis OOD detection</a:t>
            </a:r>
            <a:br/>
            <a:r>
              <a:t>• Progressive dropout (0.4 → 0.3 → 0.2) for regularization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4846320" cy="45720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MODEL CARD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Architecture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EfficientNet-B5 + Custom Head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Input Resolution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456 × 456 × 3 (RGB)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Total Parameters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~30,000,000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Output Classes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Bacterial Blight  |  Healthy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Export Format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TensorFlow Lite (Float32 + INT8)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Dual 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Logits + 128-dim Embedding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04 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Two-Phase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19456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PHASE 1 — Warmup (Epochs 1–10)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Backbone FROZEN — only classifier head trains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Learning Rate: 1e-4 (AdamW)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Prevents catastrophic forgetting of ImageNet features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Fast convergence on new classification 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219456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PHASE 2 — Fine-tuning (Epochs 11–50)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ALL LAYERS UNFROZEN — end-to-end training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Learning Rate: 1e-5 (10× smaller)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Cosine annealing scheduler (eta_min=1e-7)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✦ Gentle fine-tuning adapts backbone to paddy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Additional Training Techniques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09160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Gradient</a:t>
            </a:r>
            <a:br/>
            <a:r>
              <a:t>Accumulation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Effective batch = 32</a:t>
            </a:r>
            <a:br/>
            <a:r>
              <a:t>(8 × 4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Weighted</a:t>
            </a:r>
            <a:br/>
            <a:r>
              <a:t>Cross-Entropy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Inverse-frequency</a:t>
            </a:r>
            <a:br/>
            <a:r>
              <a:t>class weights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Label</a:t>
            </a:r>
            <a:br/>
            <a:r>
              <a:t>Smoothing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0.1 smoothing for</a:t>
            </a:r>
            <a:br/>
            <a:r>
              <a:t>better 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TrivialAugment</a:t>
            </a:r>
            <a:br/>
            <a:r>
              <a:t>Wide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State-of-the-art</a:t>
            </a:r>
            <a:br/>
            <a:r>
              <a:t>auto-augmentation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Weighted</a:t>
            </a:r>
            <a:br/>
            <a:r>
              <a:t>Random Sampler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Class-balanced</a:t>
            </a:r>
            <a:br/>
            <a:r>
              <a:t>batches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4937760"/>
            <a:ext cx="1691640" cy="1554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50292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Cosine</a:t>
            </a:r>
            <a:br/>
            <a:r>
              <a:t>Annealing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562356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Warm restarts</a:t>
            </a:r>
            <a:br/>
            <a:r>
              <a:t>scheduler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05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Training &amp;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OVERALL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99.62%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on validation set (800 samples)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Bacterial Blight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Precision: 0.99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Recall: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F1: 1.00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Precision: 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B8C5"/>
                </a:solidFill>
                <a:latin typeface="Calibri"/>
              </a:defRPr>
            </a:pPr>
            <a:r>
              <a:t>Recall: 0.99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F1: 1.00</a:t>
            </a:r>
          </a:p>
        </p:txBody>
      </p:sp>
      <p:pic>
        <p:nvPicPr>
          <p:cNvPr id="19" name="Picture 18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6858000" cy="2743200"/>
          </a:xfrm>
          <a:prstGeom prst="rect">
            <a:avLst/>
          </a:prstGeom>
        </p:spPr>
      </p:pic>
      <p:pic>
        <p:nvPicPr>
          <p:cNvPr id="20" name="Picture 1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840480"/>
            <a:ext cx="34747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06 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5-Layer OOD Rejection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AB8C5"/>
                </a:solidFill>
                <a:latin typeface="Calibri"/>
              </a:defRPr>
            </a:pPr>
            <a:r>
              <a:t>Ensures the model never gives confident but wrong predictions on non-paddy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914400" cy="640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HSV Color + Edge Texture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334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Rejects non-plant images using color ratio &amp; edge density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914400" cy="640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 Inference (Not Leaf Class)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02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Dedicated reject class trained on non-leaf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914400" cy="640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330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Mahalanobis Distance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Measures embedding distance to known class distributions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914400" cy="640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01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B923C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37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Confidence Threshold (≥ 60%)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39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Rejects predictions below 60% softmax confidence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914400" cy="640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704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Shannon Entropy OOD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108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Rejects if model entropy &gt; 0.75 × ln(N) — too uncertain</a:t>
            </a:r>
          </a:p>
        </p:txBody>
      </p:sp>
      <p:pic>
        <p:nvPicPr>
          <p:cNvPr id="26" name="Picture 25" descr="ood_detection_layers_17893583809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07 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Model Export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B8C5"/>
                </a:solidFill>
                <a:latin typeface="Calibri"/>
              </a:defRPr>
            </a:pPr>
            <a:r>
              <a:t>4-step automated pipeline converts the trained PyTorch model into an optimized TFLite model for Android.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560320" cy="3200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26517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715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Load PyTorch</a:t>
            </a:r>
            <a:br/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Load trained EfficientNet-B5</a:t>
            </a:r>
            <a:br/>
            <a:r>
              <a:t>checkpoint (.pth)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model.pth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83280" y="3840480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468880"/>
            <a:ext cx="2560320" cy="3200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26517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715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429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Export to</a:t>
            </a:r>
            <a:br/>
            <a:r>
              <a:t>ONNX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23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Wrap in DualOutputWrapper</a:t>
            </a:r>
            <a:br/>
            <a:r>
              <a:t>Export logits +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model.onnx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17920" y="3840480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468880"/>
            <a:ext cx="2560320" cy="3200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0" y="26517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15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Convert to</a:t>
            </a:r>
            <a:br/>
            <a:r>
              <a:t>TFLite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23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ONNX → TensorFlow → TFLite</a:t>
            </a:r>
            <a:br/>
            <a:r>
              <a:t>Optional INT8 quantization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model.tflite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52560" y="3840480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2468880"/>
            <a:ext cx="2560320" cy="32004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40" y="265176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7157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429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  <a:br/>
            <a:r>
              <a:t>TFLite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023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Dummy inference test</a:t>
            </a:r>
            <a:br/>
            <a:r>
              <a:t>Verify dual-output shapes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✅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Output Files:    model.tflite   •   labels.txt   •   class_stats.json    →    Copied to Android assets/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08  ANDROID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Native Android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100% Offline — No Internet Required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AAB8C5"/>
                </a:solidFill>
                <a:latin typeface="Calibri"/>
              </a:defRPr>
            </a:pPr>
            <a:r>
              <a:t>All AI inference runs on-device using TensorFlow Lite.</a:t>
            </a:r>
            <a:br/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Modern Material Design 3 UI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AAB8C5"/>
                </a:solidFill>
                <a:latin typeface="Calibri"/>
              </a:defRPr>
            </a:pPr>
            <a:r>
              <a:t>Built with Jetpack Compose, featuring smooth animations,</a:t>
            </a:r>
            <a:br/>
            <a:r>
              <a:t>confidence bars, and expandable treatment cards.</a:t>
            </a:r>
            <a:br/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Bilingual Support (English &amp; Bengali)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AAB8C5"/>
                </a:solidFill>
                <a:latin typeface="Calibri"/>
              </a:defRPr>
            </a:pPr>
            <a:r>
              <a:t>Full localization for Bangladeshi farmers.</a:t>
            </a:r>
            <a:br/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Scan History with Room Database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AAB8C5"/>
                </a:solidFill>
                <a:latin typeface="Calibri"/>
              </a:defRPr>
            </a:pPr>
            <a:r>
              <a:t>Persistent local storage of all past scans.</a:t>
            </a:r>
            <a:br/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Camera + Gallery Input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AAB8C5"/>
                </a:solidFill>
                <a:latin typeface="Calibri"/>
              </a:defRPr>
            </a:pPr>
            <a:r>
              <a:t>Capture live with CameraX or select from gallery.</a:t>
            </a:r>
          </a:p>
        </p:txBody>
      </p:sp>
      <p:pic>
        <p:nvPicPr>
          <p:cNvPr id="6" name="Picture 5" descr="android_app_mockup_17893584013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09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ML &amp;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Deep learning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EfficientNet-B5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38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Backbone architecture (torchvision)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Optimizer with decoupled weight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TrivialAugmentWide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93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State-of-the-art auto-augmentation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WeightedRandomSampler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Class-balanced 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Model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24028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ONNX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Intermediate representation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onnx2tf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38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ONNX to TensorFlow converter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On-device inference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Float32 / INT8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093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Quantization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Android 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4028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Kotlin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Primary programming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Jetpack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38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Modern declarative UI toolkit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Material Design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CameraX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93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Camera abstraction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Room 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70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Local persistence (scan history)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Safety / 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224028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HSV Color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Pre-filter non-plant images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Mahalanobis Distance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538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Embedding-based OOD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Shannon Entropy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Uncertainty quantification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Edge Texture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093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B8D"/>
                </a:solidFill>
                <a:latin typeface="Calibri"/>
              </a:defRPr>
            </a:pPr>
            <a:r>
              <a:t>Image quality gating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10 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Development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Dataset Preparation &amp; Initial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• Collected and organized paddy leaf dataset (train/val split)</a:t>
            </a:r>
            <a:br/>
            <a:r>
              <a:t>• Started with MobileNetV2 as baseline backbone</a:t>
            </a:r>
            <a:br/>
            <a:r>
              <a:t>• Built basic training pipeline with standard augmentations</a:t>
            </a:r>
            <a:br/>
            <a:r>
              <a:t>• Initial accuracy: ~70%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920240"/>
            <a:ext cx="256032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Phase 2: Architecture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EfficientNet-B5 + Two-Phase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• Upgraded backbone to EfficientNet-B5 (30M params)</a:t>
            </a:r>
            <a:br/>
            <a:r>
              <a:t>• Implemented two-phase transfer learning strategy</a:t>
            </a:r>
            <a:br/>
            <a:r>
              <a:t>• Added gradient accumulation (effective batch = 32)</a:t>
            </a:r>
            <a:br/>
            <a:r>
              <a:t>• Accuracy improved significantly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256032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Phase 3: Training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Advanced Techniques &amp; Class Balancing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• Switched to AdamW optimizer</a:t>
            </a:r>
            <a:br/>
            <a:r>
              <a:t>• Replaced manual augmentations with TrivialAugmentWide</a:t>
            </a:r>
            <a:br/>
            <a:r>
              <a:t>• Added WeightedRandomSampler for class balance</a:t>
            </a:r>
            <a:br/>
            <a:r>
              <a:t>• Added label smoothing (0.1) + cosine annealing</a:t>
            </a:r>
            <a:br/>
            <a:r>
              <a:t>• Achieved 99.62% validation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920240"/>
            <a:ext cx="256032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Phase 4: Safety &amp;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OOD Detection + Android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AB8C5"/>
                </a:solidFill>
                <a:latin typeface="Calibri"/>
              </a:defRPr>
            </a:pPr>
            <a:r>
              <a:t>• Built 5-layer OOD rejection system</a:t>
            </a:r>
            <a:br/>
            <a:r>
              <a:t>• Mahalanobis distance in 128-dim embedding space</a:t>
            </a:r>
            <a:br/>
            <a:r>
              <a:t>• Exported dual-output TFLite model</a:t>
            </a:r>
            <a:br/>
            <a:r>
              <a:t>• Built native Kotlin/Compose Android app</a:t>
            </a:r>
            <a:br/>
            <a:r>
              <a:t>• Full offline inference with bilingual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11 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99.62%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Perfect F1-score of 1.00</a:t>
            </a:r>
            <a:br/>
            <a:r>
              <a:t>for both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46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EfficientNet-B5 backbone</a:t>
            </a:r>
            <a:br/>
            <a:r>
              <a:t>with custom classifier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46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No internet needed —</a:t>
            </a:r>
            <a:br/>
            <a:r>
              <a:t>all inference on-device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5-Layer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OOD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Multi-gate safety system</a:t>
            </a:r>
            <a:br/>
            <a:r>
              <a:t>prevents false positives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29768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434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Bilingual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303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 + BN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623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Full Bengali localization</a:t>
            </a:r>
            <a:br/>
            <a:r>
              <a:t>for Bangladeshi farmers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297680"/>
            <a:ext cx="338328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434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2C55E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303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623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B8D"/>
                </a:solidFill>
                <a:latin typeface="Calibri"/>
              </a:defRPr>
            </a:pPr>
            <a:r>
              <a:t>On-device TFLite inference</a:t>
            </a:r>
            <a:br/>
            <a:r>
              <a:t>under 2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12 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3716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1344168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96596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Expand Disease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Add Blast, Brown Spot, Sheath Blight, and more disease categories to increase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965960"/>
            <a:ext cx="1344168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965960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Larger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Collect 5,000+ images per class from multiple regions and seasons for robust generalization.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520440"/>
            <a:ext cx="768096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520440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RandAugment / CutMix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Implement advanced augmentation strategies (Recommendation #1 from accuracy improvements).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3520440"/>
            <a:ext cx="768096" cy="2743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2044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3520440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Apply INT8 quantization + pruning to reduce app size while maintaining accuracy.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1261872" cy="274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507492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GPS + Weather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Correlate disease detection with geographic location and weather patterns for epidemiological insights.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937760"/>
            <a:ext cx="5303520" cy="1325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0" y="5074920"/>
            <a:ext cx="850392" cy="274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074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5074920"/>
            <a:ext cx="3721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Google Play Store 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86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B8C5"/>
                </a:solidFill>
                <a:latin typeface="Calibri"/>
              </a:defRPr>
            </a:pPr>
            <a:r>
              <a:t>Publish the app publicly with the Play Store publishing guide already prepared.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ackground_17893583558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2C55E"/>
                </a:solidFill>
                <a:latin typeface="Calibri"/>
              </a:defRPr>
            </a:pPr>
            <a:r>
              <a:t>PaddyCare AI — Empowering Farmers with AI-Powered Disease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4995" y="5486400"/>
            <a:ext cx="1161288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4995" y="5504688"/>
            <a:ext cx="1161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3443" y="5486400"/>
            <a:ext cx="1965960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3443" y="550468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EfficientNet-B5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6563" y="5486400"/>
            <a:ext cx="1060704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6563" y="550468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TFLite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7" y="5486400"/>
            <a:ext cx="1060704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4427" y="550468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Kotlin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2291" y="5486400"/>
            <a:ext cx="1965960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2291" y="5504688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Jetpack 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5411" y="5486400"/>
            <a:ext cx="1161288" cy="365760"/>
          </a:xfrm>
          <a:prstGeom prst="roundRect">
            <a:avLst/>
          </a:prstGeom>
          <a:solidFill>
            <a:srgbClr val="1A2A4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5411" y="5504688"/>
            <a:ext cx="1161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2C55E"/>
                </a:solidFill>
                <a:latin typeface="Calibri"/>
              </a:defRPr>
            </a:pPr>
            <a:r>
              <a:t>Room 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